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-n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F4444"/>
                </a:solidFill>
              </a:defRPr>
            </a:pPr>
            <a:r>
              <a:t>CORE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D4D4D8"/>
                </a:solidFill>
              </a:defRPr>
            </a:pPr>
            <a:r>
              <a:t>Creative • Operations • Reality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F4444"/>
                </a:solidFill>
              </a:defRPr>
            </a:pPr>
            <a:r>
              <a:t>CORE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D4D4D8"/>
                </a:solidFill>
              </a:defRPr>
            </a:pPr>
            <a:r>
              <a:t>Future-Ready Learning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C2626"/>
                </a:solidFill>
              </a:defRPr>
            </a:pPr>
            <a:r>
              <a:t>Bishop Diego High School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EF4444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The CORE Hub is Bishop Diego's bold response to the AI-native economy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A 3-zone production studio teaching Virtual Production, AI/ML, XR, and Digital Entrepreneurship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An LED Virtual Production Wall as the centerpiece - cutting-edge technology used in Hollywood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Students gain hands-on experience with industry-standard tools and workflows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Prepares students for high-growth careers in tech, media, and creative industries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Makes Bishop Diego the premier Catholic high school for future-ready education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EF4444"/>
                </a:solidFill>
              </a:defRPr>
            </a:pPr>
            <a:r>
              <a:t>Why Now? The Strategic Imperative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AI &amp; Automation: Traditional jobs are being transformed - students need new skills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The Creator Economy: Content creation, digital marketing, and virtual production are booming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Competitive Advantage: Differentiate BDHS in Santa Barbara's competitive education market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Future-Proof Curriculum: Prepare students for careers that don't yet exist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Industry Demand: Tech and media companies desperately need skilled talent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Mission Alignment: Integrates faith-based values with cutting-edge innovation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EF4444"/>
                </a:solidFill>
              </a:defRPr>
            </a:pPr>
            <a:r>
              <a:t>Five 4-Year Learning Tracks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1. AI &amp; Data Science - Build and question AI models with ethical frameworks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2. Interactive Experience &amp; UI/UX - Design human-centered digital experiences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3. Virtual Production &amp; Storytelling - Master LED wall cinematography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4. Digital Entrepreneurship &amp; Marketing - Launch real companies and brands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5. Immersive World-Building &amp; XR - Create 3D worlds for VR, AR, and LED walls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EF4444"/>
                </a:solidFill>
              </a:defRPr>
            </a:pPr>
            <a:r>
              <a:t>AI &amp; Data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Cultivate dual mastery of building AI models and the human-centric thinking to question them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CAREER PATHS: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AI/ML Specialist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Data Scientist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AI Prompt Engineer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AI Ethicist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PROGRAM HIGHLIGHTS: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Python &amp; Machine Learning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Neural Networks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Data Ethics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Portfolio Capstone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EF4444"/>
                </a:solidFill>
              </a:defRPr>
            </a:pPr>
            <a:r>
              <a:t>Interactive Experience &amp; UI/UX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Master human-computer interaction, blending empathy, psychology, visual design, and logic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CAREER PATHS: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UX/UI Designer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Immersive Experience Designer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Creative Technologist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PROGRAM HIGHLIGHTS: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Design Thinking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User Research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Prototyping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Interactive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EF4444"/>
                </a:solidFill>
              </a:defRPr>
            </a:pPr>
            <a:r>
              <a:t>Virtual Production &amp; Storytelling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Master next-generation storytelling with LED wall virtual production and real-time rendering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CAREER PATHS: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Virtual Production Specialist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Video Producer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Content Creator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Audio Engineer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PROGRAM HIGHLIGHTS: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Virtual Cinematography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LED Wall Production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Unreal Engine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Audio Production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EF4444"/>
                </a:solidFill>
              </a:defRPr>
            </a:pPr>
            <a:r>
              <a:t>Digital Entrepreneurship &amp; Marketing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Learn to build brands, analyze data, find audiences, and create companies in the digital economy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CAREER PATHS: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Digital Marketing Strategist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SEO Specialist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Social Media Manager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Founder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PROGRAM HIGHLIGHTS: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Digital Marketing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SEO &amp; Analytics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Brand Building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Startup Creation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EF4444"/>
                </a:solidFill>
              </a:defRPr>
            </a:pPr>
            <a:r>
              <a:t>Immersive World-Building &amp; XR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Fuse art and code to build 3D interactive worlds for LED walls, VR headsets, and beyond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CAREER PATHS: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XR Developer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VR/AR Designer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3D Modeler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Game Developer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PROGRAM HIGHLIGHTS: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Unity &amp; Unreal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3D Modeling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VR/AR Development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• Interactive Experiences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EF4444"/>
                </a:solidFill>
              </a:defRPr>
            </a:pPr>
            <a:r>
              <a:t>4-Year Curriculum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9th Grade: Foundations of Media &amp; Technology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Introduction to all five tracks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Basic digital literacy and creative tools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10th Grade: Track Selection &amp; Core Skills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Students choose their specialization track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Develop foundational skills in chosen area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11th Grade: Advanced Specialization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Industry-standard software and workflows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Real-world project experience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12th Grade: Capstone Portfolio Project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Professional portfolio piece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Presentation to industry professionals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EF4444"/>
                </a:solidFill>
              </a:defRPr>
            </a:pPr>
            <a:r>
              <a:t>The 3-Zone Facility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Zone 1: Virtual Production Studio (THE CORE)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LED Virtual Production Wall for in-camera VFX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Professional camera, lighting &amp; audio equipment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Zone 2: Deep Tech Lab (THE ENGINE)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High-performance computing for AI &amp; 3D development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VR/AR testing stations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Zone 3: Collab &amp; Design Studio (THE HUB)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Wall-to-wall whiteboards for design thinking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Flexible furniture for collaboration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Studio-first design: flexible, reconfigurable, interdisciplinary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EF4444"/>
                </a:solidFill>
              </a:defRPr>
            </a:pPr>
            <a:r>
              <a:t>Zone 1: Virtual Production Studio</a:t>
            </a:r>
          </a:p>
        </p:txBody>
      </p:sp>
      <p:pic>
        <p:nvPicPr>
          <p:cNvPr id="3" name="Picture 2" descr="virtual-produ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10972800" cy="7315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8580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1A1AA"/>
                </a:solidFill>
              </a:defRPr>
            </a:pPr>
            <a:r>
              <a:t>The CORE - LED Wall enables in-camera visual effects with realistic lighting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EF4444"/>
                </a:solidFill>
              </a:defRPr>
            </a:pPr>
            <a:r>
              <a:t>Zone 2: Deep Tech Lab</a:t>
            </a:r>
          </a:p>
        </p:txBody>
      </p:sp>
      <p:pic>
        <p:nvPicPr>
          <p:cNvPr id="3" name="Picture 2" descr="facility-z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10972800" cy="62701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8580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1A1AA"/>
                </a:solidFill>
              </a:defRPr>
            </a:pPr>
            <a:r>
              <a:t>The ENGINE - High-computational power zone for AI and 3D development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EF4444"/>
                </a:solidFill>
              </a:defRPr>
            </a:pPr>
            <a:r>
              <a:t>Zone 3: Collab &amp; Design Studio</a:t>
            </a:r>
          </a:p>
        </p:txBody>
      </p:sp>
      <p:pic>
        <p:nvPicPr>
          <p:cNvPr id="3" name="Picture 2" descr="collab-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10972800" cy="43183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8580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1A1AA"/>
                </a:solidFill>
              </a:defRPr>
            </a:pPr>
            <a:r>
              <a:t>The HUB - Human-centric workspace for UI/UX and entrepreneurship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EF4444"/>
                </a:solidFill>
              </a:defRPr>
            </a:pPr>
            <a:r>
              <a:t>The LED Wall: Game-Changing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Not just a display - a real-time production tool driven by game engines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Unlike green screens: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In-camera visual effects with realistic lighting and reflections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Actors see the environment they're performing in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No post-production green screen keying required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Industry Standard: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Used in The Mandalorian, House of the Dragon, and major films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Teaches complete virtual production pipeline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Prepares students for Hollywood-level workflows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This is the "leapfrog" technology that sets us apart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EF4444"/>
                </a:solidFill>
              </a:defRPr>
            </a:pPr>
            <a:r>
              <a:t>Career Outcomes &amp; Pathways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High-Growth Industries: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AI &amp; Machine Learning - 40% projected growth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Digital Marketing - $600B+ industry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Virtual Production - Used in 75% of major productions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XR Development - $300B+ metaverse economy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Portfolio-Ready Graduates: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Professional capstone projects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Industry-standard tool proficiency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Real-world client experience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College &amp; Career Readiness: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Stand out in college applications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Direct pathways to tech careers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Entrepreneurial mindset development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EF4444"/>
                </a:solidFill>
              </a:defRPr>
            </a:pPr>
            <a:r>
              <a:t>Investment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PHASE 1: Core Infrastructure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Virtual Production Studio with LED Wall: $120,000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Deep Tech Lab Computing Equipment: $50,000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Collab Studio Furniture &amp; Whiteboards: $15,000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Total Phase 1: $185,000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PHASE 2: Expansion &amp; Enhancement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Additional camera &amp; audio gear: $25,000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VR/AR development kits: $20,000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Software licenses &amp; cloud services: $15,000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Total Phase 2: $60,000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TOTAL INVESTMENT: $245,000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EF4444"/>
                </a:solidFill>
              </a:defRPr>
            </a:pPr>
            <a:r>
              <a:t>Detailed Budget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D4D4D8"/>
                </a:solidFill>
              </a:defRPr>
            </a:pPr>
            <a:r>
              <a:t>VIRTUAL PRODUCTION STUDIO:</a:t>
            </a:r>
          </a:p>
          <a:p>
            <a:pPr>
              <a:spcAft>
                <a:spcPts val="1000"/>
              </a:spcAft>
              <a:defRPr sz="2000">
                <a:solidFill>
                  <a:srgbClr val="D4D4D8"/>
                </a:solidFill>
              </a:defRPr>
            </a:pPr>
            <a:r>
              <a:t>• LED Wall System: $80,000</a:t>
            </a:r>
          </a:p>
          <a:p>
            <a:pPr>
              <a:spcAft>
                <a:spcPts val="1000"/>
              </a:spcAft>
              <a:defRPr sz="2000">
                <a:solidFill>
                  <a:srgbClr val="D4D4D8"/>
                </a:solidFill>
              </a:defRPr>
            </a:pPr>
            <a:r>
              <a:t>• Camera Package: $25,000</a:t>
            </a:r>
          </a:p>
          <a:p>
            <a:pPr>
              <a:spcAft>
                <a:spcPts val="1000"/>
              </a:spcAft>
              <a:defRPr sz="2000">
                <a:solidFill>
                  <a:srgbClr val="D4D4D8"/>
                </a:solidFill>
              </a:defRPr>
            </a:pPr>
            <a:r>
              <a:t>• Lighting Kit: $10,000</a:t>
            </a:r>
          </a:p>
          <a:p>
            <a:pPr>
              <a:spcAft>
                <a:spcPts val="1000"/>
              </a:spcAft>
              <a:defRPr sz="2000">
                <a:solidFill>
                  <a:srgbClr val="D4D4D8"/>
                </a:solidFill>
              </a:defRPr>
            </a:pPr>
            <a:r>
              <a:t>• Audio Equipment: $5,000</a:t>
            </a:r>
          </a:p>
          <a:p>
            <a:pPr>
              <a:spcAft>
                <a:spcPts val="1000"/>
              </a:spcAft>
              <a:defRPr sz="2000">
                <a:solidFill>
                  <a:srgbClr val="D4D4D8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D4D4D8"/>
                </a:solidFill>
              </a:defRPr>
            </a:pPr>
            <a:r>
              <a:t>DEEP TECH LAB:</a:t>
            </a:r>
          </a:p>
          <a:p>
            <a:pPr>
              <a:spcAft>
                <a:spcPts val="1000"/>
              </a:spcAft>
              <a:defRPr sz="2000">
                <a:solidFill>
                  <a:srgbClr val="D4D4D8"/>
                </a:solidFill>
              </a:defRPr>
            </a:pPr>
            <a:r>
              <a:t>• GPU Workstations (5x): $30,000</a:t>
            </a:r>
          </a:p>
          <a:p>
            <a:pPr>
              <a:spcAft>
                <a:spcPts val="1000"/>
              </a:spcAft>
              <a:defRPr sz="2000">
                <a:solidFill>
                  <a:srgbClr val="D4D4D8"/>
                </a:solidFill>
              </a:defRPr>
            </a:pPr>
            <a:r>
              <a:t>• VR Headsets (10x): $15,000</a:t>
            </a:r>
          </a:p>
          <a:p>
            <a:pPr>
              <a:spcAft>
                <a:spcPts val="1000"/>
              </a:spcAft>
              <a:defRPr sz="2000">
                <a:solidFill>
                  <a:srgbClr val="D4D4D8"/>
                </a:solidFill>
              </a:defRPr>
            </a:pPr>
            <a:r>
              <a:t>• 3D Printers: $5,000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82880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D4D4D8"/>
                </a:solidFill>
              </a:defRPr>
            </a:pPr>
            <a:r>
              <a:t>COLLAB STUDIO:</a:t>
            </a:r>
          </a:p>
          <a:p>
            <a:pPr>
              <a:spcAft>
                <a:spcPts val="1000"/>
              </a:spcAft>
              <a:defRPr sz="2000">
                <a:solidFill>
                  <a:srgbClr val="D4D4D8"/>
                </a:solidFill>
              </a:defRPr>
            </a:pPr>
            <a:r>
              <a:t>• Modular Furniture: $10,000</a:t>
            </a:r>
          </a:p>
          <a:p>
            <a:pPr>
              <a:spcAft>
                <a:spcPts val="1000"/>
              </a:spcAft>
              <a:defRPr sz="2000">
                <a:solidFill>
                  <a:srgbClr val="D4D4D8"/>
                </a:solidFill>
              </a:defRPr>
            </a:pPr>
            <a:r>
              <a:t>• Whiteboard Walls: $3,000</a:t>
            </a:r>
          </a:p>
          <a:p>
            <a:pPr>
              <a:spcAft>
                <a:spcPts val="1000"/>
              </a:spcAft>
              <a:defRPr sz="2000">
                <a:solidFill>
                  <a:srgbClr val="D4D4D8"/>
                </a:solidFill>
              </a:defRPr>
            </a:pPr>
            <a:r>
              <a:t>• Large Displays: $2,000</a:t>
            </a:r>
          </a:p>
          <a:p>
            <a:pPr>
              <a:spcAft>
                <a:spcPts val="1000"/>
              </a:spcAft>
              <a:defRPr sz="2000">
                <a:solidFill>
                  <a:srgbClr val="D4D4D8"/>
                </a:solidFill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D4D4D8"/>
                </a:solidFill>
              </a:defRPr>
            </a:pPr>
            <a:r>
              <a:t>SOFTWARE &amp; SUPPORT:</a:t>
            </a:r>
          </a:p>
          <a:p>
            <a:pPr>
              <a:spcAft>
                <a:spcPts val="1000"/>
              </a:spcAft>
              <a:defRPr sz="2000">
                <a:solidFill>
                  <a:srgbClr val="D4D4D8"/>
                </a:solidFill>
              </a:defRPr>
            </a:pPr>
            <a:r>
              <a:t>• Adobe Creative Cloud: $5,000/yr</a:t>
            </a:r>
          </a:p>
          <a:p>
            <a:pPr>
              <a:spcAft>
                <a:spcPts val="1000"/>
              </a:spcAft>
              <a:defRPr sz="2000">
                <a:solidFill>
                  <a:srgbClr val="D4D4D8"/>
                </a:solidFill>
              </a:defRPr>
            </a:pPr>
            <a:r>
              <a:t>• Unity/Unreal Licenses: $3,000/yr</a:t>
            </a:r>
          </a:p>
          <a:p>
            <a:pPr>
              <a:spcAft>
                <a:spcPts val="1000"/>
              </a:spcAft>
              <a:defRPr sz="2000">
                <a:solidFill>
                  <a:srgbClr val="D4D4D8"/>
                </a:solidFill>
              </a:defRPr>
            </a:pPr>
            <a:r>
              <a:t>• Cloud Rendering: $4,000/yr</a:t>
            </a:r>
          </a:p>
          <a:p>
            <a:pPr>
              <a:spcAft>
                <a:spcPts val="1000"/>
              </a:spcAft>
              <a:defRPr sz="2000">
                <a:solidFill>
                  <a:srgbClr val="D4D4D8"/>
                </a:solidFill>
              </a:defRPr>
            </a:pPr>
            <a:r>
              <a:t>• Faculty Training: $8,000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EF4444"/>
                </a:solidFill>
              </a:defRPr>
            </a:pPr>
            <a:r>
              <a:t>Return on 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Student Outcomes: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Industry-certified graduates with professional portfolios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Competitive advantage in college admissions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Direct career pathways to high-paying industries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Institutional Benefits: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Premier differentiation in competitive education market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Attraction tool for prospective families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Increased enrollment and retention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National recognition as innovation leader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Community Impact: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Partnership opportunities with local businesses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Student services (video production, web design) for community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Elevates Bishop Diego's regional profile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EF4444"/>
                </a:solidFill>
              </a:defRPr>
            </a:pPr>
            <a:r>
              <a:t>The Time is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The CORE Hub positions Bishop Diego at the forefront of education innovation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We're not just teaching technology - we're preparing students to: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Create meaningful work in an AI-powered economy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Lead with ethics and human-centered values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Build the future while staying grounded in faith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This is more than a facility - it's a commitment to: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Every student's future readiness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Bishop Diego's competitive excellence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   • Catholic education's relevance in the modern world</a:t>
            </a: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</a:p>
          <a:p>
            <a:pPr>
              <a:spcAft>
                <a:spcPts val="1200"/>
              </a:spcAft>
              <a:defRPr sz="2400">
                <a:solidFill>
                  <a:srgbClr val="D4D4D8"/>
                </a:solidFill>
              </a:defRPr>
            </a:pPr>
            <a:r>
              <a:t>Join us in building the future of learning.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F4444"/>
                </a:solidFill>
              </a:defRPr>
            </a:pPr>
            <a:r>
              <a:t>CORE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D4D4D8"/>
                </a:solidFill>
              </a:defRPr>
            </a:pPr>
            <a:r>
              <a:t>Where Innovation Meets Education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1A1AA"/>
                </a:solidFill>
              </a:defRPr>
            </a:pPr>
            <a:r>
              <a:t>Bishop Diego High School</a:t>
            </a:r>
          </a:p>
          <a:p>
            <a:pPr algn="ctr">
              <a:defRPr sz="2400">
                <a:solidFill>
                  <a:srgbClr val="A1A1AA"/>
                </a:solidFill>
              </a:defRPr>
            </a:pPr>
            <a:r>
              <a:t>www.bdhscorehub.pages.dev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